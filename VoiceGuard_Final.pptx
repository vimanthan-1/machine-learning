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19" r:id="rId2"/>
    <p:sldId id="506" r:id="rId3"/>
    <p:sldId id="507" r:id="rId4"/>
    <p:sldId id="508" r:id="rId5"/>
    <p:sldId id="509" r:id="rId6"/>
    <p:sldId id="510" r:id="rId7"/>
    <p:sldId id="511" r:id="rId8"/>
    <p:sldId id="512" r:id="rId9"/>
    <p:sldId id="51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EB6FF-ADAA-45C6-A825-247BBAE19742}" type="datetimeFigureOut">
              <a:rPr lang="en-IN" smtClean="0"/>
              <a:t>22-07-2026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77BC4-17D5-4B3B-8254-CC862B6A5E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99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E602E-F900-9031-6AC8-73F10556E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C2B61-6876-88B3-A5F9-7B829DA42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60275-ABCD-B29C-8C0A-6E4F2FD3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F3498-F4F9-DB41-CD36-6A221BCB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CE914-FBBD-92B9-9CA2-3F40FD1D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633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98DF1-C5BE-6796-70DE-A3F503A7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4492F-7D80-29C9-2308-5A8569C2D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3FDF3-E10C-A3F0-B98D-453E8083D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66F82-2042-C918-C81F-2F9B4F18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9D627-19C3-DC54-7CD9-FA5500839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78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671E6-8C35-83BC-2B33-0655540C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F6C37-AB34-25BE-12C1-AA65FCA8F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F8FFD-45F0-DD57-FE3C-9E076ACE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A5514-393C-EFCE-01F9-B2CE001A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ACB48-3533-1C36-3514-71B63718C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056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CD219-FA69-9CBF-FBDE-B710CFB8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58CF-DE11-9B79-12E3-5342CE5B6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2B980-E864-34A6-6906-C86638E18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7FA1C-7B6A-BA75-B37B-195B0F57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7CB70-8B73-BAB9-8426-FDEFD716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51A4B-870D-163F-53D2-0AADE339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239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BA5A0-BB01-6BB8-C159-471001A90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6893-4A4F-426A-A5F6-626610F37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5C00F-0E53-D71D-782E-D740B83A1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3FF82-8820-CCBF-411E-57C2C0FB4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F392E-9590-423C-3F62-1B99F8ED7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51395E-14B8-3C49-B85F-5EE4C7A4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5F0EAD-79ED-31EE-A7B8-00CA48D0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9BBB80-F93E-5FA1-B554-B865EFB6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44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0E9A-C769-7BAB-77EC-E3DD0C87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9FE8A4-529A-DDB2-CFFE-2621FA72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7F48B-5C43-9F3A-55CC-A47A74EE7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BDCAC-FA44-2D60-C7FB-00EA9C2A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546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AFBC8-4429-3CF2-D7FD-013C843A5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6F2463-4C84-38B5-C473-94DEDD33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4EB43-8F87-9269-D6F6-0FBA03253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3765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1E04-8BD9-6B68-FC0F-A711F6A8C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F50A1-7EB1-0089-AFE0-A0B4139BA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D8750-631F-0F8E-8365-7236BB4F6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EE415-B1A5-EF49-8E72-3A526EF2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330E7-EC53-C9ED-DBB8-5B347D7F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CD15B-3E89-C907-AE04-8C7A74F2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313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BE34-C477-BD1D-5C4A-423A42EC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F98EAA-EB77-18BB-153B-3C2C17FD4C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9DA39-FACA-F80B-5621-B93583F1D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F808F-D30B-9980-A54D-AF59385A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B967-36B2-D49E-ACAA-62ED90179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779D1-E21D-CDFE-D44E-F0AE9A47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04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8ADA2-FAF6-FC43-216D-329339BBA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6FCD0-243C-6296-B116-1BE620DC3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54B15-B895-3960-42A1-243C1366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702E8-C53E-4EA8-5371-E99E20C0B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A6DE-5D9F-FF19-9DCE-40347D324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032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0E82D7-F785-4947-1FAC-D31467C67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5C0C9-4A27-BB0A-99C0-CD5C624AA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07FE6-F9D6-5313-31D3-3B456B3E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C271F-B837-12E3-63A5-2BF92AF5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47357-8C1B-DAF7-EA68-D7B300470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64260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8000"/>
            <a:lum/>
          </a:blip>
          <a:srcRect/>
          <a:stretch>
            <a:fillRect l="4000" t="15000" r="4000" b="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500EC-1157-3044-AF8C-8BB8052A0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158B8-89EE-6370-40DB-B55329201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0FA01-4EFB-2556-186F-6EDC8B37E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Date: DD/MM/YYYY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3A508-2D6B-F27D-0E75-55977FA03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9B5CE-202A-2084-F4FC-495F1B77B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41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401641"/>
            <a:ext cx="10515600" cy="2387600"/>
          </a:xfrm>
          <a:noFill/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CS5403 – Machine Learning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PBL Project Review–II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695C9B8-2B8D-722A-D1E4-DB26ABC22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253" y="4068760"/>
            <a:ext cx="4562669" cy="1747839"/>
          </a:xfrm>
          <a:noFill/>
        </p:spPr>
        <p:txBody>
          <a:bodyPr rtlCol="0">
            <a:normAutofit/>
          </a:bodyPr>
          <a:lstStyle/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Vimanthan (2104251040013) &amp; Sriram Jeganathan (2104251040966)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2104251040013 &amp; 2104251040966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 L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4B01F8-75A2-E674-8FB3-91C160A648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7" b="13744"/>
          <a:stretch>
            <a:fillRect/>
          </a:stretch>
        </p:blipFill>
        <p:spPr>
          <a:xfrm>
            <a:off x="2014014" y="103673"/>
            <a:ext cx="8163969" cy="12399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8A47D1-B6FE-DF05-8C4F-BF8ADA8CECA2}"/>
              </a:ext>
            </a:extLst>
          </p:cNvPr>
          <p:cNvSpPr txBox="1"/>
          <p:nvPr/>
        </p:nvSpPr>
        <p:spPr>
          <a:xfrm>
            <a:off x="4425998" y="2891449"/>
            <a:ext cx="33400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VoiceGuard: ML-Based Deepfake Voice Detection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E79CF91-FEBC-8843-2396-3F73C4A93418}"/>
              </a:ext>
            </a:extLst>
          </p:cNvPr>
          <p:cNvSpPr txBox="1">
            <a:spLocks/>
          </p:cNvSpPr>
          <p:nvPr/>
        </p:nvSpPr>
        <p:spPr>
          <a:xfrm>
            <a:off x="7162078" y="4068759"/>
            <a:ext cx="4562669" cy="174783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S. Prabha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DD7FD45-5E4F-0506-E6E9-699A49C3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1</a:t>
            </a:fld>
            <a:endParaRPr lang="en-IN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CD744800-7B7D-1CC0-99F0-27E4BA9DE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22/07/2026</a:t>
            </a:r>
            <a:endParaRPr lang="en-IN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1FE1F1F0-72E3-4268-62A9-CA71368AD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2171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CACB-BD96-E2FF-8A86-21149747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Progress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B721-FE62-DE79-132F-30A2E97ED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5680"/>
            <a:ext cx="10515600" cy="5181283"/>
          </a:xfrm>
          <a:noFill/>
        </p:spPr>
        <p:txBody>
          <a:bodyPr>
            <a:normAutofit/>
          </a:bodyPr>
          <a:lstStyle/>
          <a:p>
            <a:pPr marL="571500" indent="-571500">
              <a:buAutoNum type="roman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Progress: 25% </a:t>
            </a:r>
          </a:p>
          <a:p>
            <a:pPr marL="571500" indent="-571500">
              <a:buAutoNum type="roman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Milestones:
- Environment Setup &amp; GitHub Initialization
- Audio Dataset Prep &amp; Generation
- Exploratory Data Analysis &amp; Spectrograms
- MFCC Feature Extraction implementation </a:t>
            </a:r>
          </a:p>
          <a:p>
            <a:pPr marL="571500" indent="-571500">
              <a:buAutoNum type="roman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Remaining Work:
- Model Training (Random Forest, SVM)
- Evaluation Metrics (F1, Accuracy)
- UI Implementation</a:t>
            </a:r>
          </a:p>
          <a:p>
            <a:pPr marL="571500" indent="-571500">
              <a:buAutoNum type="roman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3CDA66-B5BD-2386-BB8F-491237797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2</a:t>
            </a:fld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A11D91B-4958-A12F-C19C-77C5B83B1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22/07/2026</a:t>
            </a:r>
            <a:endParaRPr lang="en-IN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9943801-C6B0-1FC9-6F0F-9A8743715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1B7ED-4992-7EBC-5212-A1AE4793B1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14370" y="0"/>
            <a:ext cx="1577630" cy="100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47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15378-57A1-BD2B-6825-39104D9E9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6032-DF0E-254C-0CD8-AB6E66698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32C5-CAD1-4295-45FE-7DE915BA4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5680"/>
            <a:ext cx="10515600" cy="5181283"/>
          </a:xfrm>
          <a:noFill/>
        </p:spPr>
        <p:txBody>
          <a:bodyPr>
            <a:normAutofit/>
          </a:bodyPr>
          <a:lstStyle/>
          <a:p>
            <a:pPr marL="571500" indent="-571500">
              <a:buAutoNum type="roman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Screenshot</a:t>
            </a:r>
          </a:p>
          <a:p>
            <a:pPr marL="571500" indent="-571500">
              <a:buAutoNum type="roman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Description: We have set up a subset of real vs. fake speech audio files to test the initial signal processing pipeline.</a:t>
            </a:r>
          </a:p>
          <a:p>
            <a:pPr marL="571500" indent="-571500">
              <a:buAutoNum type="romanU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samples: Small test subset (Full scale uses 25GB ASVspoof)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18352F-9C19-CF1E-1D03-4BACF46A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3</a:t>
            </a:fld>
            <a:endParaRPr lang="en-IN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B39290C-FF8D-37DE-61F5-B382DBC80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22/07/2026</a:t>
            </a:r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AB39C0-B980-A41B-A280-8B336A9A6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7AD570-272D-9B58-D270-8D9E2E8715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14370" y="0"/>
            <a:ext cx="1577630" cy="1002059"/>
          </a:xfrm>
          <a:prstGeom prst="rect">
            <a:avLst/>
          </a:prstGeom>
        </p:spPr>
      </p:pic>
      <p:pic>
        <p:nvPicPr>
          <p:cNvPr id="9" name="Picture 8" descr="dataset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206" y="3157265"/>
            <a:ext cx="9360310" cy="209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7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618C8-1A4F-EFB9-CA30-299146157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40AA7-ACBA-6CC8-C67C-FB16D1F50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&amp;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BDB7E-8D91-BFCC-BD1C-BDC644B31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5680"/>
            <a:ext cx="10515600" cy="5181283"/>
          </a:xfrm>
          <a:noFill/>
        </p:spPr>
        <p:txBody>
          <a:bodyPr>
            <a:normAutofit/>
          </a:bodyPr>
          <a:lstStyle/>
          <a:p>
            <a:pPr marL="571500" indent="-571500">
              <a:buAutoNum type="romanUcPeriod"/>
              <a:defRPr sz="1000"/>
            </a:pPr>
            <a:r>
              <a:t>Workflow: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000"/>
            </a:pPr>
            <a:r>
              <a:t>1. Load audio → 2. Resample to 16 kHz → 3. Trim silence</a:t>
            </a:r>
          </a:p>
          <a:p>
            <a:pPr>
              <a:defRPr sz="1000"/>
            </a:pPr>
            <a:r>
              <a:t>4. Extract MFCCs (13 coefficients) → 5. Extract Mel-Spectrogram</a:t>
            </a:r>
          </a:p>
          <a:p>
            <a:pPr>
              <a:defRPr sz="1000"/>
            </a:pPr>
            <a:r>
              <a:t>6. Build feature matrix → 7. Train RF / SVM classifiers</a:t>
            </a:r>
          </a:p>
          <a:p>
            <a:pPr>
              <a:defRPr sz="1000"/>
            </a:pPr>
            <a:r>
              <a:t>8. Predict Real/Fake with confidence score</a:t>
            </a:r>
          </a:p>
          <a:p>
            <a:pPr>
              <a:defRPr sz="1000"/>
            </a:pPr>
          </a:p>
          <a:p>
            <a:pPr>
              <a:defRPr sz="1000"/>
            </a:pPr>
            <a:r>
              <a:t>Algorithmic Flow:</a:t>
            </a:r>
          </a:p>
          <a:p>
            <a:pPr>
              <a:defRPr sz="1000"/>
            </a:pPr>
            <a:r>
              <a:t>• Audio signal → Short-Time Fourier Transform (STFT)</a:t>
            </a:r>
          </a:p>
          <a:p>
            <a:pPr>
              <a:defRPr sz="1000"/>
            </a:pPr>
            <a:r>
              <a:t>• STFT → Mel filter bank → Log scale → DCT → MFCCs</a:t>
            </a:r>
          </a:p>
          <a:p>
            <a:pPr>
              <a:defRPr sz="1000"/>
            </a:pPr>
            <a:r>
              <a:t>• Feature vector fed to supervised classifiers</a:t>
            </a:r>
          </a:p>
          <a:p>
            <a:pPr>
              <a:defRPr sz="1000"/>
            </a:pPr>
          </a:p>
          <a:p>
            <a:pPr>
              <a:defRPr sz="1000"/>
            </a:pPr>
            <a:r>
              <a:t>Technology Stack:</a:t>
            </a:r>
          </a:p>
          <a:p>
            <a:pPr>
              <a:defRPr sz="1000"/>
            </a:pPr>
            <a:r>
              <a:t>• Python 3.14  |  librosa  |  scikit-learn</a:t>
            </a:r>
          </a:p>
          <a:p>
            <a:pPr>
              <a:defRPr sz="1000"/>
            </a:pPr>
            <a:r>
              <a:t>• matplotlib  |  scipy  |  python-pptx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1E70550-5F49-E002-6AE3-6E645A7F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4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383AF-943A-AF13-9532-2E7247763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22/07/2026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EB03C-AEC7-289A-7AE4-AFF9D11CF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C4589D-EACD-580D-42F9-CFEB56DA32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14370" y="0"/>
            <a:ext cx="1577630" cy="1002059"/>
          </a:xfrm>
          <a:prstGeom prst="rect">
            <a:avLst/>
          </a:prstGeom>
        </p:spPr>
      </p:pic>
      <p:pic>
        <p:nvPicPr>
          <p:cNvPr id="9" name="Picture 8" descr="workflow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200400"/>
            <a:ext cx="4572000" cy="133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38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B97E5-D400-46AE-AE05-98F3D366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3512-77FF-BCD5-5958-FBFA0FD12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Module Design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B35F0-73F4-6883-9D0F-D2984C08E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5680"/>
            <a:ext cx="10515600" cy="5181283"/>
          </a:xfrm>
          <a:noFill/>
        </p:spPr>
        <p:txBody>
          <a:bodyPr>
            <a:normAutofit/>
          </a:bodyPr>
          <a:lstStyle/>
          <a:p>
            <a:pPr marL="571500" indent="-571500">
              <a:buAutoNum type="romanUcPeriod"/>
              <a:defRPr sz="1000"/>
            </a:pPr>
            <a:r>
              <a:t>Architectural Diagram: (see image below)</a:t>
            </a:r>
          </a:p>
          <a:p>
            <a:pPr>
              <a:defRPr sz="1000"/>
            </a:pPr>
          </a:p>
          <a:p>
            <a:pPr>
              <a:defRPr sz="1000"/>
            </a:pPr>
            <a:r>
              <a:t>APIs &amp; Libraries Used:</a:t>
            </a:r>
          </a:p>
          <a:p>
            <a:pPr>
              <a:defRPr sz="1000"/>
            </a:pPr>
            <a:r>
              <a:t>• librosa — Audio loading, MFCC &amp; Mel-Spectrogram extraction</a:t>
            </a:r>
          </a:p>
          <a:p>
            <a:pPr>
              <a:defRPr sz="1000"/>
            </a:pPr>
            <a:r>
              <a:t>• scikit-learn — Random Forest, SVM classifiers, metrics</a:t>
            </a:r>
          </a:p>
          <a:p>
            <a:pPr>
              <a:defRPr sz="1000"/>
            </a:pPr>
            <a:r>
              <a:t>• scipy.signal — Spectrogram computation, signal processing</a:t>
            </a:r>
          </a:p>
          <a:p>
            <a:pPr>
              <a:defRPr sz="1000"/>
            </a:pPr>
            <a:r>
              <a:t>• matplotlib — Visualization of waveforms &amp; spectrograms</a:t>
            </a:r>
          </a:p>
          <a:p>
            <a:pPr>
              <a:defRPr sz="1000"/>
            </a:pPr>
          </a:p>
          <a:p>
            <a:pPr>
              <a:defRPr sz="1000"/>
            </a:pPr>
            <a:r>
              <a:t>Hardware &amp; Software Components:</a:t>
            </a:r>
          </a:p>
          <a:p>
            <a:pPr>
              <a:defRPr sz="1000"/>
            </a:pPr>
            <a:r>
              <a:t>• OS: Windows 11  |  IDE: VS Code</a:t>
            </a:r>
          </a:p>
          <a:p>
            <a:pPr>
              <a:defRPr sz="1000"/>
            </a:pPr>
            <a:r>
              <a:t>• CPU: Intel / AMD (no GPU required for RF/SVM)</a:t>
            </a:r>
          </a:p>
          <a:p>
            <a:pPr>
              <a:defRPr sz="1000"/>
            </a:pPr>
            <a:r>
              <a:t>• Python 3.14  |  pip package manager</a:t>
            </a:r>
          </a:p>
          <a:p>
            <a:pPr>
              <a:defRPr sz="1000"/>
            </a:pPr>
            <a:r>
              <a:t>• Dataset: ASVspoof 2019 (Logical Access subset)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D2D4A5-60AA-677E-EC4C-E20C7280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5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3DF96-CDCE-6198-A813-9DB585D26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22/07/2026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FF564-79B7-2DA4-D1EF-F9A5F2014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09BAEF-CA79-9AEE-3472-847DB95920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14370" y="0"/>
            <a:ext cx="1577630" cy="1002059"/>
          </a:xfrm>
          <a:prstGeom prst="rect">
            <a:avLst/>
          </a:prstGeom>
        </p:spPr>
      </p:pic>
      <p:pic>
        <p:nvPicPr>
          <p:cNvPr id="9" name="Picture 8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286000"/>
            <a:ext cx="4572000" cy="272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054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E2AC1-0C6F-B3B8-EAB0-97CD590AE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3DD0A-76B6-2841-9A88-924256320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Environment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3C8B9-0D5B-0FDD-BB5F-E086DAAD3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5680"/>
            <a:ext cx="10515600" cy="5181283"/>
          </a:xfrm>
          <a:noFill/>
        </p:spPr>
        <p:txBody>
          <a:bodyPr>
            <a:normAutofit/>
          </a:bodyPr>
          <a:lstStyle/>
          <a:p>
            <a:pPr marL="571500" indent="-571500">
              <a:buAutoNum type="romanUcPeriod"/>
              <a:defRPr sz="1000"/>
            </a:pPr>
            <a:r>
              <a:t>Code Architecture:</a:t>
            </a:r>
          </a:p>
          <a:p>
            <a:pPr>
              <a:defRPr sz="1000"/>
            </a:pPr>
            <a:r>
              <a:t>• src/data_explorer.py — Waveform &amp; spectrogram generation</a:t>
            </a:r>
          </a:p>
          <a:p>
            <a:pPr>
              <a:defRPr sz="1000"/>
            </a:pPr>
            <a:r>
              <a:t>• src/feature_extractor.py — MFCC feature extraction module</a:t>
            </a:r>
          </a:p>
          <a:p>
            <a:pPr>
              <a:defRPr sz="1000"/>
            </a:pPr>
            <a:r>
              <a:t>• setup_project.py — Dataset folder creation &amp; audio generation</a:t>
            </a:r>
          </a:p>
          <a:p>
            <a:pPr>
              <a:defRPr sz="1000"/>
            </a:pPr>
            <a:r>
              <a:t>• make_ppt.py — Automated presentation builder</a:t>
            </a:r>
          </a:p>
          <a:p>
            <a:pPr>
              <a:defRPr sz="1000"/>
            </a:pPr>
          </a:p>
          <a:p>
            <a:pPr>
              <a:defRPr sz="1000"/>
            </a:pPr>
            <a:r>
              <a:t>IDE Used: Visual Studio Code</a:t>
            </a:r>
          </a:p>
          <a:p>
            <a:pPr>
              <a:defRPr sz="1000"/>
            </a:pPr>
          </a:p>
          <a:p>
            <a:pPr>
              <a:defRPr sz="1000"/>
            </a:pPr>
            <a:r>
              <a:t>Libraries:</a:t>
            </a:r>
          </a:p>
          <a:p>
            <a:pPr>
              <a:defRPr sz="1000"/>
            </a:pPr>
            <a:r>
              <a:t>• librosa 0.11  |  matplotlib 3.11  |  scikit-learn 1.8</a:t>
            </a:r>
          </a:p>
          <a:p>
            <a:pPr>
              <a:defRPr sz="1000"/>
            </a:pPr>
            <a:r>
              <a:t>• scipy 1.17  |  numpy 2.4  |  python-pptx 1.0</a:t>
            </a:r>
          </a:p>
          <a:p>
            <a:pPr>
              <a:defRPr sz="1000"/>
            </a:pPr>
          </a:p>
          <a:p>
            <a:pPr>
              <a:defRPr sz="1000"/>
            </a:pPr>
            <a:r>
              <a:t>GitHub Repository: github.com/vimanthan/VoiceGuard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1B69223-F761-F9FB-18A4-5B80FFD63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6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D3C3A-3EAC-5035-FEF7-0E51CFBBC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22/07/2026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42053-A507-8F09-F95C-297A3CC67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579A48-F6D9-C56E-5A9F-CE27BDA41B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14370" y="0"/>
            <a:ext cx="1577630" cy="1002059"/>
          </a:xfrm>
          <a:prstGeom prst="rect">
            <a:avLst/>
          </a:prstGeom>
        </p:spPr>
      </p:pic>
      <p:pic>
        <p:nvPicPr>
          <p:cNvPr id="9" name="Picture 8" descr="code_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743200"/>
            <a:ext cx="3657600" cy="303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578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1BBE3-0968-455A-5382-119FEECA0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0F11B-5E3A-17F5-50DE-3BB8658E2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1C6B9-ABBE-7000-D77E-58DF88553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5680"/>
            <a:ext cx="10515600" cy="5181283"/>
          </a:xfrm>
          <a:noFill/>
        </p:spPr>
        <p:txBody>
          <a:bodyPr>
            <a:normAutofit/>
          </a:bodyPr>
          <a:lstStyle/>
          <a:p>
            <a:pPr marL="571500" indent="-571500">
              <a:buAutoNum type="romanUcPeriod"/>
              <a:defRPr sz="1000"/>
            </a:pPr>
            <a:r>
              <a:t>Extracted Mel-Spectrograms (Real vs Fake):</a:t>
            </a:r>
          </a:p>
          <a:p>
            <a:pPr>
              <a:defRPr sz="1000"/>
            </a:pPr>
            <a:r>
              <a:t>(see images below — left: genuine speech, right: deepfake)</a:t>
            </a:r>
          </a:p>
          <a:p>
            <a:pPr>
              <a:defRPr sz="1000"/>
            </a:pPr>
          </a:p>
          <a:p>
            <a:pPr>
              <a:defRPr sz="1000"/>
            </a:pPr>
            <a:r>
              <a:t>Working Prototype:</a:t>
            </a:r>
          </a:p>
          <a:p>
            <a:pPr>
              <a:defRPr sz="1000"/>
            </a:pPr>
            <a:r>
              <a:t>• Feature extraction pipeline fully functional</a:t>
            </a:r>
          </a:p>
          <a:p>
            <a:pPr>
              <a:defRPr sz="1000"/>
            </a:pPr>
            <a:r>
              <a:t>• MFCC vectors of shape (13,) generated per sample</a:t>
            </a:r>
          </a:p>
          <a:p>
            <a:pPr>
              <a:defRPr sz="1000"/>
            </a:pPr>
            <a:r>
              <a:t>• Waveform &amp; Mel-Spectrogram visualizations generated</a:t>
            </a:r>
          </a:p>
          <a:p>
            <a:pPr>
              <a:defRPr sz="1000"/>
            </a:pPr>
          </a:p>
          <a:p>
            <a:pPr>
              <a:defRPr sz="1000"/>
            </a:pPr>
            <a:r>
              <a:t>Prediction Result:</a:t>
            </a:r>
          </a:p>
          <a:p>
            <a:pPr>
              <a:defRPr sz="1000"/>
            </a:pPr>
            <a:r>
              <a:t>• Model training is the next milestone (Review 3)</a:t>
            </a:r>
          </a:p>
          <a:p>
            <a:pPr>
              <a:defRPr sz="1000"/>
            </a:pPr>
            <a:r>
              <a:t>• Target: &gt;90% accuracy on ASVspoof LA subset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3799614-61A2-A43F-7067-E5560494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7</a:t>
            </a:fld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57B34-3797-36A2-300B-6DBE01C86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22/07/2026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B5DC3-716F-732A-B903-7B3C45B53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37B35E-5BCD-76F5-E2ED-23462FF0AA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14370" y="0"/>
            <a:ext cx="1577630" cy="1002059"/>
          </a:xfrm>
          <a:prstGeom prst="rect">
            <a:avLst/>
          </a:prstGeom>
        </p:spPr>
      </p:pic>
      <p:pic>
        <p:nvPicPr>
          <p:cNvPr id="9" name="Picture 8" descr="real_spectr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0"/>
            <a:ext cx="3657600" cy="1463040"/>
          </a:xfrm>
          <a:prstGeom prst="rect">
            <a:avLst/>
          </a:prstGeom>
        </p:spPr>
      </p:pic>
      <p:pic>
        <p:nvPicPr>
          <p:cNvPr id="10" name="Picture 9" descr="fake_spectro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743200"/>
            <a:ext cx="3657600" cy="1463040"/>
          </a:xfrm>
          <a:prstGeom prst="rect">
            <a:avLst/>
          </a:prstGeom>
        </p:spPr>
      </p:pic>
      <p:pic>
        <p:nvPicPr>
          <p:cNvPr id="11" name="Picture 10" descr="real_spectrogram_v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4114800"/>
            <a:ext cx="4114800" cy="1860065"/>
          </a:xfrm>
          <a:prstGeom prst="rect">
            <a:avLst/>
          </a:prstGeom>
        </p:spPr>
      </p:pic>
      <p:pic>
        <p:nvPicPr>
          <p:cNvPr id="12" name="Picture 11" descr="fake_spectrogram_v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4114800"/>
            <a:ext cx="4114800" cy="1860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60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7202E-22EB-3F24-3925-E63816F23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AC5A9-C6F0-D2ED-F6D4-7C06CD800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Challenges &amp; Future Direction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DAD73-49E1-A8B4-BDE6-2BBC8FF38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308" y="995680"/>
            <a:ext cx="5257800" cy="5181283"/>
          </a:xfrm>
          <a:noFill/>
        </p:spPr>
        <p:txBody>
          <a:bodyPr>
            <a:normAutofit/>
          </a:bodyPr>
          <a:lstStyle/>
          <a:p>
            <a:pPr marL="0" indent="0">
              <a:buNone/>
              <a:defRPr sz="1000"/>
            </a:pPr>
            <a:r>
              <a:t>Challenges:</a:t>
            </a:r>
          </a:p>
          <a:p>
            <a:pPr>
              <a:defRPr sz="1000"/>
            </a:pPr>
          </a:p>
          <a:p>
            <a:pPr>
              <a:defRPr sz="1000"/>
            </a:pPr>
            <a:r>
              <a:t>Tech Challenges:</a:t>
            </a:r>
          </a:p>
          <a:p>
            <a:pPr>
              <a:defRPr sz="1000"/>
            </a:pPr>
            <a:r>
              <a:t>• Large dependency sizes (librosa, numba, llvmlite)</a:t>
            </a:r>
          </a:p>
          <a:p>
            <a:pPr>
              <a:defRPr sz="1000"/>
            </a:pPr>
            <a:r>
              <a:t>• Handling diverse audio formats &amp; sample rates</a:t>
            </a:r>
          </a:p>
          <a:p>
            <a:pPr>
              <a:defRPr sz="1000"/>
            </a:pPr>
          </a:p>
          <a:p>
            <a:pPr>
              <a:defRPr sz="1000"/>
            </a:pPr>
            <a:r>
              <a:t>Dataset Challenges:</a:t>
            </a:r>
          </a:p>
          <a:p>
            <a:pPr>
              <a:defRPr sz="1000"/>
            </a:pPr>
            <a:r>
              <a:t>• ASVspoof 2019 full dataset is 25 GB</a:t>
            </a:r>
          </a:p>
          <a:p>
            <a:pPr>
              <a:defRPr sz="1000"/>
            </a:pPr>
            <a:r>
              <a:t>• Class imbalance between bonafide &amp; spoof samples</a:t>
            </a:r>
          </a:p>
          <a:p>
            <a:pPr>
              <a:defRPr sz="1000"/>
            </a:pPr>
          </a:p>
          <a:p>
            <a:pPr>
              <a:defRPr sz="1000"/>
            </a:pPr>
            <a:r>
              <a:t>Implementation Challenges:</a:t>
            </a:r>
          </a:p>
          <a:p>
            <a:pPr>
              <a:defRPr sz="1000"/>
            </a:pPr>
            <a:r>
              <a:t>• Feature engineering — choosing optimal MFCC count</a:t>
            </a:r>
          </a:p>
          <a:p>
            <a:pPr>
              <a:defRPr sz="1000"/>
            </a:pPr>
            <a:r>
              <a:t>• Generalizing to unseen TTS/VC attack types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81CBE5-4484-E08A-E24B-4981F7002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8</a:t>
            </a:fld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EB83754-DDEA-2B3C-F597-47D8E58A6753}"/>
              </a:ext>
            </a:extLst>
          </p:cNvPr>
          <p:cNvSpPr txBox="1">
            <a:spLocks/>
          </p:cNvSpPr>
          <p:nvPr/>
        </p:nvSpPr>
        <p:spPr>
          <a:xfrm>
            <a:off x="6142892" y="995679"/>
            <a:ext cx="5257800" cy="518128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1000"/>
            </a:pPr>
            <a:r>
              <a:t>Next Plan:</a:t>
            </a:r>
          </a:p>
          <a:p>
            <a:pPr>
              <a:defRPr sz="1000"/>
            </a:pPr>
          </a:p>
          <a:p>
            <a:pPr>
              <a:defRPr sz="1000"/>
            </a:pPr>
            <a:r>
              <a:t>Model Training &amp; Optimization:</a:t>
            </a:r>
          </a:p>
          <a:p>
            <a:pPr>
              <a:defRPr sz="1000"/>
            </a:pPr>
            <a:r>
              <a:t>• Train Random Forest &amp; SVM on extracted features</a:t>
            </a:r>
          </a:p>
          <a:p>
            <a:pPr>
              <a:defRPr sz="1000"/>
            </a:pPr>
            <a:r>
              <a:t>• Hyperparameter tuning (GridSearchCV)</a:t>
            </a:r>
          </a:p>
          <a:p>
            <a:pPr>
              <a:defRPr sz="1000"/>
            </a:pPr>
          </a:p>
          <a:p>
            <a:pPr>
              <a:defRPr sz="1000"/>
            </a:pPr>
            <a:r>
              <a:t>Performance Evaluation:</a:t>
            </a:r>
          </a:p>
          <a:p>
            <a:pPr>
              <a:defRPr sz="1000"/>
            </a:pPr>
            <a:r>
              <a:t>• Accuracy, Precision, Recall, F1-Score</a:t>
            </a:r>
          </a:p>
          <a:p>
            <a:pPr>
              <a:defRPr sz="1000"/>
            </a:pPr>
            <a:r>
              <a:t>• Confusion Matrix &amp; ROC-AUC analysis</a:t>
            </a:r>
          </a:p>
          <a:p>
            <a:pPr>
              <a:defRPr sz="1000"/>
            </a:pPr>
          </a:p>
          <a:p>
            <a:pPr>
              <a:defRPr sz="1000"/>
            </a:pPr>
            <a:r>
              <a:t>Testing:</a:t>
            </a:r>
          </a:p>
          <a:p>
            <a:pPr>
              <a:defRPr sz="1000"/>
            </a:pPr>
            <a:r>
              <a:t>• Cross-validation on ASVspoof LA subset</a:t>
            </a:r>
          </a:p>
          <a:p>
            <a:pPr>
              <a:defRPr sz="1000"/>
            </a:pPr>
            <a:r>
              <a:t>• Test with real-world voice clone samples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62F9D38-E44C-A95E-90BD-7D1E16AE7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22/07/2026</a:t>
            </a:r>
            <a:endParaRPr lang="en-IN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D55492-6EBF-65F3-4F33-CAEA0DE94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236BB2-C7E7-1888-F534-A1645CD0CE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" t="4596" r="67470" b="9539"/>
          <a:stretch>
            <a:fillRect/>
          </a:stretch>
        </p:blipFill>
        <p:spPr>
          <a:xfrm>
            <a:off x="10614370" y="0"/>
            <a:ext cx="1577630" cy="100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156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B6885-6B9A-270E-D011-C6195CEF0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B7B8957-8828-E623-0D1B-083069FEC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9</a:t>
            </a:fld>
            <a:endParaRPr lang="en-IN" dirty="0"/>
          </a:p>
        </p:txBody>
      </p:sp>
      <p:pic>
        <p:nvPicPr>
          <p:cNvPr id="12" name="Picture 11" descr="445 Handshake Thank You Stock Vectors and Vector Art | Shutterstock">
            <a:extLst>
              <a:ext uri="{FF2B5EF4-FFF2-40B4-BE49-F238E27FC236}">
                <a16:creationId xmlns:a16="http://schemas.microsoft.com/office/drawing/2014/main" id="{0744CD32-84C7-7BD3-01FF-8F00C01B58F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275" t="58286" r="27620" b="14678"/>
          <a:stretch>
            <a:fillRect/>
          </a:stretch>
        </p:blipFill>
        <p:spPr>
          <a:xfrm>
            <a:off x="3814664" y="4155896"/>
            <a:ext cx="4562670" cy="143914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3648C33D-8B31-6B82-2E8D-DC4C841DE344}"/>
              </a:ext>
            </a:extLst>
          </p:cNvPr>
          <p:cNvSpPr txBox="1">
            <a:spLocks/>
          </p:cNvSpPr>
          <p:nvPr/>
        </p:nvSpPr>
        <p:spPr>
          <a:xfrm>
            <a:off x="3814664" y="5477052"/>
            <a:ext cx="4562669" cy="87929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Vimanthan (2104251040013) &amp; Sriram Jeganathan (2104251040966)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marL="0" indent="0" algn="ctr">
              <a:spcBef>
                <a:spcPts val="575"/>
              </a:spcBef>
              <a:buClr>
                <a:srgbClr val="D34817"/>
              </a:buClr>
              <a:buSzPct val="85000"/>
              <a:buNone/>
              <a:defRPr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viman.workspace@gmail.com | sriramjeganathan@outlook.com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2D89810-5C91-2F79-7E8D-214F321DF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II–Year PBL Project Review–II</a:t>
            </a:r>
            <a:endParaRPr lang="en-IN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2A3C68FE-708A-E575-2346-D66B76F2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Date: 22/07/2026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8180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1055</TotalTime>
  <Words>377</Words>
  <Application>Microsoft Office PowerPoint</Application>
  <PresentationFormat>Widescreen</PresentationFormat>
  <Paragraphs>75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CS5403 – Machine Learning PBL Project Review–II</vt:lpstr>
      <vt:lpstr> Project Progress Overview</vt:lpstr>
      <vt:lpstr> Data Collection &amp; Analysis</vt:lpstr>
      <vt:lpstr> Methodology &amp; Design</vt:lpstr>
      <vt:lpstr> System Architecture &amp; Module Design </vt:lpstr>
      <vt:lpstr> Implementation Environment </vt:lpstr>
      <vt:lpstr> Implementation Progress</vt:lpstr>
      <vt:lpstr>Current Challenges &amp; Future Direction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ayeesha nasreen</dc:creator>
  <cp:lastModifiedBy>A Vimanthan</cp:lastModifiedBy>
  <cp:revision>13</cp:revision>
  <dcterms:created xsi:type="dcterms:W3CDTF">2025-03-10T15:11:33Z</dcterms:created>
  <dcterms:modified xsi:type="dcterms:W3CDTF">2026-07-22T07:18:10Z</dcterms:modified>
</cp:coreProperties>
</file>